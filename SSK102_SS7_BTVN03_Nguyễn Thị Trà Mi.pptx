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914400"/>
          </a:xfrm>
          <a:prstGeom prst="roundRect">
            <a:avLst/>
          </a:prstGeom>
          <a:solidFill>
            <a:srgbClr val="18203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BÁO CÁO NHÂN LỰC &amp; THỊ TRƯỜNG CNTT VIỆT NAM 2026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Tổng quan nhu cầu tuyển dụng, kỹ năng trọng tâm, dải thu nhập và xu hướng ứng dụng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474720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QUY MÔ &amp; THÁCH THỨC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3108960" cy="1920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Nhu </a:t>
            </a:r>
            <a:r>
              <a:rPr dirty="0" err="1"/>
              <a:t>cầu</a:t>
            </a:r>
            <a:r>
              <a:rPr dirty="0"/>
              <a:t> </a:t>
            </a:r>
            <a:r>
              <a:rPr dirty="0" err="1"/>
              <a:t>kỹ</a:t>
            </a:r>
            <a:r>
              <a:rPr dirty="0"/>
              <a:t> </a:t>
            </a:r>
            <a:r>
              <a:rPr dirty="0" err="1"/>
              <a:t>sư</a:t>
            </a:r>
            <a:r>
              <a:rPr dirty="0"/>
              <a:t> </a:t>
            </a:r>
            <a:r>
              <a:rPr dirty="0" err="1"/>
              <a:t>mới</a:t>
            </a:r>
            <a:endParaRPr dirty="0"/>
          </a:p>
          <a:p>
            <a:pPr>
              <a:defRPr sz="3200" b="1">
                <a:solidFill>
                  <a:srgbClr val="06B6D4"/>
                </a:solidFill>
              </a:defRPr>
            </a:pPr>
            <a:r>
              <a:rPr dirty="0"/>
              <a:t>150.000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rPr dirty="0" err="1"/>
              <a:t>nhân</a:t>
            </a:r>
            <a:r>
              <a:rPr dirty="0"/>
              <a:t> </a:t>
            </a:r>
            <a:r>
              <a:rPr dirty="0" err="1"/>
              <a:t>sự</a:t>
            </a:r>
            <a:r>
              <a:rPr dirty="0"/>
              <a:t> / </a:t>
            </a:r>
            <a:r>
              <a:rPr dirty="0" err="1"/>
              <a:t>năm</a:t>
            </a:r>
            <a:endParaRPr dirty="0"/>
          </a:p>
          <a:p>
            <a:pPr>
              <a:defRPr sz="900">
                <a:solidFill>
                  <a:srgbClr val="94A3B8"/>
                </a:solidFill>
              </a:defRPr>
            </a:pPr>
            <a:r>
              <a:rPr dirty="0" err="1"/>
              <a:t>Đáp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tốc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chuyển</a:t>
            </a:r>
            <a:r>
              <a:rPr dirty="0"/>
              <a:t> </a:t>
            </a:r>
            <a:r>
              <a:rPr dirty="0" err="1"/>
              <a:t>đổi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mở</a:t>
            </a:r>
            <a:r>
              <a:rPr dirty="0"/>
              <a:t> </a:t>
            </a:r>
            <a:r>
              <a:rPr dirty="0" err="1"/>
              <a:t>rộng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mềm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3108960" cy="2011680"/>
          </a:xfrm>
          <a:prstGeom prst="roundRect">
            <a:avLst/>
          </a:prstGeom>
          <a:solidFill>
            <a:srgbClr val="261423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2519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Tỷ lệ thiếu hụt</a:t>
            </a:r>
          </a:p>
          <a:p>
            <a:pPr>
              <a:defRPr sz="3200" b="1">
                <a:solidFill>
                  <a:srgbClr val="F43F5E"/>
                </a:solidFill>
              </a:defRPr>
            </a:pPr>
            <a:r>
              <a:t>35,8%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nhân sự chất lượng cao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Thiếu hụt tập trung ở nhóm Kỹ sư Senior và Chuyên gia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508760"/>
            <a:ext cx="3840480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6459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C55E"/>
                </a:solidFill>
              </a:defRPr>
            </a:pPr>
            <a:r>
              <a:t>TOP KỸ NĂNG SĂN ĐÓN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03120"/>
            <a:ext cx="34747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AI / Machine Learning</a:t>
            </a: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32,5%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395727"/>
            <a:ext cx="3474720" cy="1645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89120" y="2395727"/>
            <a:ext cx="3226525" cy="1645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2944368"/>
            <a:ext cx="34747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Cloud Architecture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24,0%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236975"/>
            <a:ext cx="3474720" cy="1645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89120" y="3236975"/>
            <a:ext cx="2382665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3785615"/>
            <a:ext cx="34747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Data Engineering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18,5%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078224"/>
            <a:ext cx="3474720" cy="1645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389120" y="4078224"/>
            <a:ext cx="1836637" cy="16459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0" y="4626864"/>
            <a:ext cx="34747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Cybersecurity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14,2%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919472"/>
            <a:ext cx="3474720" cy="1645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389120" y="4919472"/>
            <a:ext cx="1409743" cy="16459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5468112"/>
            <a:ext cx="34747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DevOps / SRE</a:t>
            </a:r>
          </a:p>
          <a:p>
            <a:pPr>
              <a:defRPr sz="1000" b="1">
                <a:solidFill>
                  <a:srgbClr val="A855F7"/>
                </a:solidFill>
              </a:defRPr>
            </a:pPr>
            <a:r>
              <a:t>10,8%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5760720"/>
            <a:ext cx="3474720" cy="1645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89120" y="5760720"/>
            <a:ext cx="1072199" cy="16459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229600" y="1508760"/>
            <a:ext cx="3413455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94192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THU NHẬP &amp; XU HƯỚNG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01168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Dải lương trung bình (VNĐ/tháng)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94192" y="2267712"/>
            <a:ext cx="310896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85632" y="2295144"/>
            <a:ext cx="29260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Dưới 1 năm kinh nghiệm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10 - 15 triệu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94192" y="2816352"/>
            <a:ext cx="310896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85632" y="2843784"/>
            <a:ext cx="29260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Từ 1 - 3 năm kinh nghiệm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18 - 30 triệu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94192" y="3364992"/>
            <a:ext cx="310896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85632" y="3392424"/>
            <a:ext cx="29260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Từ 3 - 5 năm kinh nghiệm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35 - 55 triệu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94192" y="3913632"/>
            <a:ext cx="310896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85632" y="3941064"/>
            <a:ext cx="29260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Trên 5 năm / Quản lý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60 - 120+ triệu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94192" y="4526280"/>
            <a:ext cx="3108960" cy="1719072"/>
          </a:xfrm>
          <a:prstGeom prst="roundRect">
            <a:avLst/>
          </a:prstGeom>
          <a:solidFill>
            <a:srgbClr val="14231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85632" y="4590288"/>
            <a:ext cx="2926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C55E"/>
                </a:solidFill>
              </a:defRPr>
            </a:pPr>
            <a:r>
              <a:t>Tác động của AI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• 78,5% doanh nghiệp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Đã đưa AI vào quy trình làm việc chính thức.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• 92,0% nhà tuyển dụng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Ưu tiên ứng viên có kỹ năng AI &amp; tự động hóa.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212</Words>
  <Application>Microsoft Office PowerPoint</Application>
  <PresentationFormat>Màn hình rộng</PresentationFormat>
  <Paragraphs>37</Paragraphs>
  <Slides>1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Bản trình bày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Thi Tra Mi D26TXQT04</cp:lastModifiedBy>
  <cp:revision>1</cp:revision>
  <dcterms:created xsi:type="dcterms:W3CDTF">2013-01-27T09:14:16Z</dcterms:created>
  <dcterms:modified xsi:type="dcterms:W3CDTF">2026-10-12T08:44:12Z</dcterms:modified>
  <cp:category/>
</cp:coreProperties>
</file>